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2" r:id="rId2"/>
    <p:sldId id="263" r:id="rId3"/>
    <p:sldId id="294" r:id="rId4"/>
    <p:sldId id="296" r:id="rId5"/>
    <p:sldId id="297" r:id="rId6"/>
    <p:sldId id="270" r:id="rId7"/>
    <p:sldId id="271" r:id="rId8"/>
    <p:sldId id="298" r:id="rId9"/>
    <p:sldId id="272" r:id="rId10"/>
    <p:sldId id="273" r:id="rId11"/>
    <p:sldId id="274" r:id="rId12"/>
    <p:sldId id="275" r:id="rId13"/>
    <p:sldId id="299" r:id="rId14"/>
    <p:sldId id="282" r:id="rId15"/>
    <p:sldId id="300" r:id="rId16"/>
    <p:sldId id="287" r:id="rId17"/>
    <p:sldId id="303" r:id="rId18"/>
    <p:sldId id="304" r:id="rId19"/>
    <p:sldId id="305" r:id="rId20"/>
    <p:sldId id="3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4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46F6A-F3BE-437D-A929-4FAFC2CDD1EA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A5775-4205-4BAB-87D5-1BD0E06B4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38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EE1D2-39C6-4F08-AF04-4A62BA48291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683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To</a:t>
            </a:r>
            <a:r>
              <a:rPr lang="sv-SE" baseline="0" dirty="0"/>
              <a:t> start in </a:t>
            </a:r>
            <a:r>
              <a:rPr lang="sv-SE" baseline="0" dirty="0" err="1"/>
              <a:t>course</a:t>
            </a:r>
            <a:r>
              <a:rPr lang="sv-SE" baseline="0" dirty="0"/>
              <a:t>, </a:t>
            </a:r>
            <a:r>
              <a:rPr lang="sv-SE" baseline="0" dirty="0" err="1"/>
              <a:t>we</a:t>
            </a:r>
            <a:r>
              <a:rPr lang="sv-SE" baseline="0" dirty="0"/>
              <a:t> </a:t>
            </a:r>
            <a:r>
              <a:rPr lang="sv-SE" baseline="0" dirty="0" err="1"/>
              <a:t>need</a:t>
            </a:r>
            <a:r>
              <a:rPr lang="sv-SE" baseline="0" dirty="0"/>
              <a:t> </a:t>
            </a:r>
            <a:r>
              <a:rPr lang="sv-SE" baseline="0" dirty="0" err="1"/>
              <a:t>unix</a:t>
            </a:r>
            <a:r>
              <a:rPr lang="sv-SE" baseline="0" dirty="0"/>
              <a:t> terminal. </a:t>
            </a:r>
          </a:p>
          <a:p>
            <a:r>
              <a:rPr lang="sv-SE" baseline="0" dirty="0" err="1"/>
              <a:t>There</a:t>
            </a:r>
            <a:r>
              <a:rPr lang="sv-SE" baseline="0" dirty="0"/>
              <a:t> </a:t>
            </a:r>
            <a:r>
              <a:rPr lang="sv-SE" baseline="0" dirty="0" err="1"/>
              <a:t>are</a:t>
            </a:r>
            <a:r>
              <a:rPr lang="sv-SE" baseline="0" dirty="0"/>
              <a:t> </a:t>
            </a:r>
            <a:r>
              <a:rPr lang="sv-SE" baseline="0" dirty="0" err="1"/>
              <a:t>many</a:t>
            </a:r>
            <a:r>
              <a:rPr lang="sv-SE" baseline="0" dirty="0"/>
              <a:t> </a:t>
            </a:r>
            <a:r>
              <a:rPr lang="sv-SE" baseline="0" dirty="0" err="1"/>
              <a:t>ways</a:t>
            </a:r>
            <a:r>
              <a:rPr lang="sv-SE" baseline="0" dirty="0"/>
              <a:t> to get </a:t>
            </a:r>
            <a:r>
              <a:rPr lang="sv-SE" baseline="0" dirty="0" err="1"/>
              <a:t>unix</a:t>
            </a:r>
            <a:r>
              <a:rPr lang="sv-SE" baseline="0" dirty="0"/>
              <a:t> </a:t>
            </a:r>
            <a:r>
              <a:rPr lang="sv-SE" baseline="0" dirty="0" err="1"/>
              <a:t>terminel</a:t>
            </a:r>
            <a:r>
              <a:rPr lang="sv-SE" baseline="0" dirty="0"/>
              <a:t> on </a:t>
            </a:r>
            <a:r>
              <a:rPr lang="sv-SE" baseline="0" dirty="0" err="1"/>
              <a:t>windows</a:t>
            </a:r>
            <a:r>
              <a:rPr lang="sv-SE" baseline="0" dirty="0"/>
              <a:t> </a:t>
            </a:r>
            <a:r>
              <a:rPr lang="sv-SE" baseline="0" dirty="0" err="1"/>
              <a:t>but</a:t>
            </a:r>
            <a:r>
              <a:rPr lang="sv-SE" baseline="0" dirty="0"/>
              <a:t> </a:t>
            </a:r>
            <a:r>
              <a:rPr lang="sv-SE" baseline="0" dirty="0" err="1"/>
              <a:t>we</a:t>
            </a:r>
            <a:r>
              <a:rPr lang="sv-SE" baseline="0" dirty="0"/>
              <a:t> </a:t>
            </a:r>
            <a:r>
              <a:rPr lang="sv-SE" baseline="0" dirty="0" err="1"/>
              <a:t>will</a:t>
            </a:r>
            <a:r>
              <a:rPr lang="sv-SE" baseline="0" dirty="0"/>
              <a:t> </a:t>
            </a:r>
            <a:r>
              <a:rPr lang="sv-SE" baseline="0" dirty="0" err="1"/>
              <a:t>choose</a:t>
            </a:r>
            <a:r>
              <a:rPr lang="sv-SE" baseline="0" dirty="0"/>
              <a:t> </a:t>
            </a:r>
            <a:r>
              <a:rPr lang="sv-SE" baseline="0" dirty="0" err="1"/>
              <a:t>easiest</a:t>
            </a:r>
            <a:r>
              <a:rPr lang="sv-SE" baseline="0" dirty="0"/>
              <a:t> </a:t>
            </a:r>
            <a:r>
              <a:rPr lang="sv-SE" baseline="0" dirty="0" err="1"/>
              <a:t>path</a:t>
            </a:r>
            <a:r>
              <a:rPr lang="sv-SE" baseline="0" dirty="0"/>
              <a:t> 		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ECF25-2783-450B-ABF0-CF0751F2528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45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To</a:t>
            </a:r>
            <a:r>
              <a:rPr lang="sv-SE" baseline="0" dirty="0"/>
              <a:t> start in </a:t>
            </a:r>
            <a:r>
              <a:rPr lang="sv-SE" baseline="0" dirty="0" err="1"/>
              <a:t>course</a:t>
            </a:r>
            <a:r>
              <a:rPr lang="sv-SE" baseline="0" dirty="0"/>
              <a:t>, </a:t>
            </a:r>
            <a:r>
              <a:rPr lang="sv-SE" baseline="0" dirty="0" err="1"/>
              <a:t>we</a:t>
            </a:r>
            <a:r>
              <a:rPr lang="sv-SE" baseline="0" dirty="0"/>
              <a:t> </a:t>
            </a:r>
            <a:r>
              <a:rPr lang="sv-SE" baseline="0" dirty="0" err="1"/>
              <a:t>need</a:t>
            </a:r>
            <a:r>
              <a:rPr lang="sv-SE" baseline="0" dirty="0"/>
              <a:t> </a:t>
            </a:r>
            <a:r>
              <a:rPr lang="sv-SE" baseline="0" dirty="0" err="1"/>
              <a:t>unix</a:t>
            </a:r>
            <a:r>
              <a:rPr lang="sv-SE" baseline="0" dirty="0"/>
              <a:t> terminal. </a:t>
            </a:r>
          </a:p>
          <a:p>
            <a:r>
              <a:rPr lang="sv-SE" baseline="0" dirty="0" err="1"/>
              <a:t>There</a:t>
            </a:r>
            <a:r>
              <a:rPr lang="sv-SE" baseline="0" dirty="0"/>
              <a:t> </a:t>
            </a:r>
            <a:r>
              <a:rPr lang="sv-SE" baseline="0" dirty="0" err="1"/>
              <a:t>are</a:t>
            </a:r>
            <a:r>
              <a:rPr lang="sv-SE" baseline="0" dirty="0"/>
              <a:t> </a:t>
            </a:r>
            <a:r>
              <a:rPr lang="sv-SE" baseline="0" dirty="0" err="1"/>
              <a:t>many</a:t>
            </a:r>
            <a:r>
              <a:rPr lang="sv-SE" baseline="0" dirty="0"/>
              <a:t> </a:t>
            </a:r>
            <a:r>
              <a:rPr lang="sv-SE" baseline="0" dirty="0" err="1"/>
              <a:t>ways</a:t>
            </a:r>
            <a:r>
              <a:rPr lang="sv-SE" baseline="0" dirty="0"/>
              <a:t> to get </a:t>
            </a:r>
            <a:r>
              <a:rPr lang="sv-SE" baseline="0" dirty="0" err="1"/>
              <a:t>unix</a:t>
            </a:r>
            <a:r>
              <a:rPr lang="sv-SE" baseline="0" dirty="0"/>
              <a:t> </a:t>
            </a:r>
            <a:r>
              <a:rPr lang="sv-SE" baseline="0" dirty="0" err="1"/>
              <a:t>terminel</a:t>
            </a:r>
            <a:r>
              <a:rPr lang="sv-SE" baseline="0" dirty="0"/>
              <a:t> on </a:t>
            </a:r>
            <a:r>
              <a:rPr lang="sv-SE" baseline="0" dirty="0" err="1"/>
              <a:t>windows</a:t>
            </a:r>
            <a:r>
              <a:rPr lang="sv-SE" baseline="0" dirty="0"/>
              <a:t> </a:t>
            </a:r>
            <a:r>
              <a:rPr lang="sv-SE" baseline="0" dirty="0" err="1"/>
              <a:t>but</a:t>
            </a:r>
            <a:r>
              <a:rPr lang="sv-SE" baseline="0" dirty="0"/>
              <a:t> </a:t>
            </a:r>
            <a:r>
              <a:rPr lang="sv-SE" baseline="0" dirty="0" err="1"/>
              <a:t>we</a:t>
            </a:r>
            <a:r>
              <a:rPr lang="sv-SE" baseline="0" dirty="0"/>
              <a:t> </a:t>
            </a:r>
            <a:r>
              <a:rPr lang="sv-SE" baseline="0" dirty="0" err="1"/>
              <a:t>will</a:t>
            </a:r>
            <a:r>
              <a:rPr lang="sv-SE" baseline="0" dirty="0"/>
              <a:t> </a:t>
            </a:r>
            <a:r>
              <a:rPr lang="sv-SE" baseline="0" dirty="0" err="1"/>
              <a:t>choose</a:t>
            </a:r>
            <a:r>
              <a:rPr lang="sv-SE" baseline="0" dirty="0"/>
              <a:t> </a:t>
            </a:r>
            <a:r>
              <a:rPr lang="sv-SE" baseline="0" dirty="0" err="1"/>
              <a:t>easiest</a:t>
            </a:r>
            <a:r>
              <a:rPr lang="sv-SE" baseline="0" dirty="0"/>
              <a:t> </a:t>
            </a:r>
            <a:r>
              <a:rPr lang="sv-SE" baseline="0" dirty="0" err="1"/>
              <a:t>path</a:t>
            </a:r>
            <a:r>
              <a:rPr lang="sv-SE" baseline="0" dirty="0"/>
              <a:t> 		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ECF25-2783-450B-ABF0-CF0751F252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948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DF: shows available and used disk space on</a:t>
            </a:r>
          </a:p>
          <a:p>
            <a:r>
              <a:rPr lang="en-GB" dirty="0"/>
              <a:t>df -h shows disk space in human-readable format</a:t>
            </a:r>
          </a:p>
          <a:p>
            <a:r>
              <a:rPr lang="en-GB" dirty="0"/>
              <a:t>df -a shows the file system's complete disk usage even if the Available field is 0</a:t>
            </a:r>
          </a:p>
          <a:p>
            <a:r>
              <a:rPr lang="en-GB" dirty="0"/>
              <a:t>df -T shows the disk usage along with each block's filesystem type (e.g., </a:t>
            </a:r>
            <a:r>
              <a:rPr lang="en-GB" dirty="0" err="1"/>
              <a:t>xfs</a:t>
            </a:r>
            <a:r>
              <a:rPr lang="en-GB" dirty="0"/>
              <a:t>, ext2, ext3, </a:t>
            </a:r>
            <a:r>
              <a:rPr lang="en-GB" dirty="0" err="1"/>
              <a:t>btrfs</a:t>
            </a:r>
            <a:r>
              <a:rPr lang="en-GB" dirty="0"/>
              <a:t>, etc.)</a:t>
            </a:r>
          </a:p>
          <a:p>
            <a:r>
              <a:rPr lang="en-GB" dirty="0"/>
              <a:t>df -i shows used and free </a:t>
            </a:r>
            <a:r>
              <a:rPr lang="en-GB" dirty="0" err="1"/>
              <a:t>inodes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DU:</a:t>
            </a:r>
            <a:r>
              <a:rPr lang="en-GB" baseline="0" dirty="0"/>
              <a:t> </a:t>
            </a:r>
            <a:r>
              <a:rPr lang="en-GB" dirty="0"/>
              <a:t>shows the disk usage of files, folders</a:t>
            </a:r>
          </a:p>
          <a:p>
            <a:r>
              <a:rPr lang="en-GB" dirty="0"/>
              <a:t>du -h shows disk usage in human-readable format for all directories and subdirectories</a:t>
            </a:r>
          </a:p>
          <a:p>
            <a:r>
              <a:rPr lang="en-GB" dirty="0"/>
              <a:t>du -a shows disk usage for all files</a:t>
            </a:r>
          </a:p>
          <a:p>
            <a:r>
              <a:rPr lang="en-GB" dirty="0"/>
              <a:t>du -s provides total disk space used by a particular file or directory</a:t>
            </a:r>
          </a:p>
          <a:p>
            <a:endParaRPr lang="en-GB" dirty="0"/>
          </a:p>
          <a:p>
            <a:r>
              <a:rPr lang="en-GB" dirty="0"/>
              <a:t>memory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/</a:t>
            </a:r>
            <a:r>
              <a:rPr lang="en-GB" b="1" dirty="0"/>
              <a:t>/proc/meminfo/</a:t>
            </a:r>
            <a:r>
              <a:rPr lang="en-GB" b="1" dirty="0" err="1"/>
              <a:t>vmstat</a:t>
            </a:r>
            <a:endParaRPr lang="en-GB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 err="1"/>
              <a:t>htop</a:t>
            </a:r>
            <a:r>
              <a:rPr lang="en-GB" b="1" dirty="0"/>
              <a:t>/top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7ECF25-2783-450B-ABF0-CF0751F2528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727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[-czvf] name-of-archive.tar.gz stuff</a:t>
            </a:r>
          </a:p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-cjvf archive.tar.bz2 stuff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-z: Compress the archive with g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ip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reate an archive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-j bz2 compression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-v: Display progress in the terminal while creating the archive, also known as “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erbose” mode. The v is always optional in these commands, but it’s helpful.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-f: Allows you to specify the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ilename of the archive.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x: extract files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extract the contents of the archive to a specific directory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-k, keep source file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--totals</a:t>
            </a: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mydata.doc.bz2
bunzip2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{.zip-filename} {filename-to-compress}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mydata.zip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{.zip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file.zip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[-czvf] name-of-archive.tar.gz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-cjvf archive.tar.bz2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-xzvf archive.tar.gz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-xjvf archive.tar.bz2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CBA5437-23FA-4242-BF8D-DA9AD6A9211C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14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837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[-czvf] name-of-archive.tar.gz stuff</a:t>
            </a:r>
          </a:p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-cjvf archive.tar.bz2 stuff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-z: Compress the archive with g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ip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reate an archive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-j bz2 compression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-v: Display progress in the terminal while creating the archive, also known as “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erbose” mode. The v is always optional in these commands, but it’s helpful.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-f: Allows you to specify the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ilename of the archive.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x: extract files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extract the contents of the archive to a specific directory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-k, keep source file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--totals</a:t>
            </a: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mydata.doc.bz2
bunzip2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{.zip-filename} {filename-to-compress}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mydata.zip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{.zip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file.zip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[-czvf] name-of-archive.tar.gz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-cjvf archive.tar.bz2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-xzvf archive.tar.gz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-xjvf archive.tar.bz2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CBA5437-23FA-4242-BF8D-DA9AD6A9211C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15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1641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[-czvf] name-of-archive.tar.gz stuff</a:t>
            </a:r>
          </a:p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-cjvf archive.tar.bz2 stuff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-z: Compress the archive with g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ip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reate an archive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-j bz2 compression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-v: Display progress in the terminal while creating the archive, also known as “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erbose” mode. The v is always optional in these commands, but it’s helpful.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-f: Allows you to specify the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ilename of the archive.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x: extract files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extract the contents of the archive to a specific directory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-k, keep source file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--totals</a:t>
            </a: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mydata.doc.bz2
bunzip2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{.zip-filename} {filename-to-compress}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mydata.zip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{.zip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file.zip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[-czvf] name-of-archive.tar.gz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-cjvf archive.tar.bz2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-xzvf archive.tar.gz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-xjvf archive.tar.bz2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CBA5437-23FA-4242-BF8D-DA9AD6A9211C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17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1641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[-czvf] name-of-archive.tar.gz stuff</a:t>
            </a:r>
          </a:p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-cjvf archive.tar.bz2 stuff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-z: Compress the archive with g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ip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reate an archive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-j bz2 compression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-v: Display progress in the terminal while creating the archive, also known as “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erbose” mode. The v is always optional in these commands, but it’s helpful.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-f: Allows you to specify the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ilename of the archive.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x: extract files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extract the contents of the archive to a specific directory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-k, keep source file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--totals</a:t>
            </a: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mydata.doc.bz2
bunzip2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{.zip-filename} {filename-to-compress}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mydata.zip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{.zip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file.zip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[-czvf] name-of-archive.tar.gz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-cjvf archive.tar.bz2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-xzvf archive.tar.gz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-xjvf archive.tar.bz2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CBA5437-23FA-4242-BF8D-DA9AD6A9211C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18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1662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[-czvf] name-of-archive.tar.gz stuff</a:t>
            </a:r>
          </a:p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tar -cjvf archive.tar.bz2 stuff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-z: Compress the archive with g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z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ip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reate an archive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-j bz2 compression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-v: Display progress in the terminal while creating the archive, also known as “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erbose” mode. The v is always optional in these commands, but it’s helpful.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-f: Allows you to specify the </a:t>
            </a:r>
            <a:r>
              <a:rPr lang="en-US" sz="20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</a:t>
            </a: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ilename of the archive.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x: extract files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-C: extract the contents of the archive to a specific directory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-k, keep source file </a:t>
            </a:r>
          </a:p>
          <a:p>
            <a:pPr marL="216000" indent="-216000"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--totals</a:t>
            </a: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gzip -d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{.gz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gunzip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{filename}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bzip2 -d mydata.doc.bz2
bunzip2 {.bz2-file}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bunzip mydata.doc.gz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{.zip-filename} {filename-to-compress}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zip mydata.zip mydata.doc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{.zip file}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unzip file.zip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[-czvf] name-of-archive.tar.gz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-cjvf archive.tar.bz2 stuff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-xzvf archive.tar.gz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tar -xjvf archive.tar.bz2</a:t>
            </a: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 algn="r">
              <a:lnSpc>
                <a:spcPct val="100000"/>
              </a:lnSpc>
            </a:pPr>
            <a:fld id="{CCBA5437-23FA-4242-BF8D-DA9AD6A9211C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t>19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7619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8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42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12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52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11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82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48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34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79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233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64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849F-C2D3-4F3E-8161-DE3C199873D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CE31F-0172-486A-A1FD-AA70BE00E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67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phdstudent2023@172.18.0.9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5576048"/>
            <a:ext cx="12192000" cy="928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sz="3200" dirty="0">
                <a:latin typeface="Arial Black" panose="020B0A04020102020204" pitchFamily="34" charset="0"/>
              </a:rPr>
              <a:t>Sandeep Kushwaha</a:t>
            </a:r>
          </a:p>
          <a:p>
            <a:r>
              <a:rPr lang="sv-SE" sz="3200" dirty="0">
                <a:latin typeface="Arial Black" panose="020B0A04020102020204" pitchFamily="34" charset="0"/>
              </a:rPr>
              <a:t>NIAB, Hyderabad, India</a:t>
            </a:r>
            <a:endParaRPr lang="en-GB" sz="3200" dirty="0">
              <a:latin typeface="Arial Black" panose="020B0A040201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D7AA02-1503-24E2-C224-9E4DBC50A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37"/>
            <a:ext cx="12192000" cy="119149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0585766-333F-D1A2-FAD6-9E8FF4AC4775}"/>
              </a:ext>
            </a:extLst>
          </p:cNvPr>
          <p:cNvSpPr txBox="1">
            <a:spLocks/>
          </p:cNvSpPr>
          <p:nvPr/>
        </p:nvSpPr>
        <p:spPr>
          <a:xfrm>
            <a:off x="-15721" y="2328236"/>
            <a:ext cx="12192000" cy="928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 sz="4000" dirty="0">
                <a:latin typeface="Arial Black" panose="020B0A04020102020204" pitchFamily="34" charset="0"/>
              </a:rPr>
              <a:t>Introduction to R</a:t>
            </a:r>
            <a:endParaRPr lang="en-GB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9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82357"/>
          </a:xfrm>
        </p:spPr>
        <p:txBody>
          <a:bodyPr>
            <a:normAutofit/>
          </a:bodyPr>
          <a:lstStyle/>
          <a:p>
            <a:pPr algn="ctr"/>
            <a:r>
              <a:rPr lang="en-GB" sz="3600" dirty="0">
                <a:latin typeface="Arial Black" panose="020B0A04020102020204" pitchFamily="34" charset="0"/>
              </a:rPr>
              <a:t>Introduction to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50" y="1126378"/>
            <a:ext cx="8508085" cy="5435786"/>
          </a:xfrm>
        </p:spPr>
        <p:txBody>
          <a:bodyPr>
            <a:normAutofit/>
          </a:bodyPr>
          <a:lstStyle/>
          <a:p>
            <a:pPr lvl="1" algn="just"/>
            <a:r>
              <a:rPr lang="en-GB" dirty="0"/>
              <a:t>R is a language and environment for statistical computing, graphics, representation and reporting</a:t>
            </a:r>
          </a:p>
          <a:p>
            <a:pPr marL="457200" lvl="1" indent="0" algn="just">
              <a:buNone/>
            </a:pPr>
            <a:endParaRPr lang="en-GB" dirty="0"/>
          </a:p>
          <a:p>
            <a:pPr lvl="1" algn="just"/>
            <a:r>
              <a:rPr lang="en-GB" dirty="0"/>
              <a:t>First introduced in 1993, designed by Ross Ihaka and Robert Gentleman (</a:t>
            </a:r>
            <a:r>
              <a:rPr lang="en-GB" sz="2000" dirty="0"/>
              <a:t>University of Auckland, New Zealand, Under GNU Project</a:t>
            </a:r>
            <a:r>
              <a:rPr lang="en-GB" dirty="0"/>
              <a:t>)</a:t>
            </a:r>
          </a:p>
          <a:p>
            <a:pPr lvl="1" algn="just"/>
            <a:endParaRPr lang="en-GB" dirty="0"/>
          </a:p>
          <a:p>
            <a:pPr lvl="1" algn="just"/>
            <a:r>
              <a:rPr lang="en-GB" dirty="0"/>
              <a:t>Similar to the S language and environment (</a:t>
            </a:r>
            <a:r>
              <a:rPr lang="en-GB" sz="2000" dirty="0"/>
              <a:t>John Chambers, Rick Becker and Allan Wilks developed at Bell Laboratories/AT&amp;T</a:t>
            </a:r>
            <a:r>
              <a:rPr lang="en-GB" dirty="0"/>
              <a:t>)</a:t>
            </a:r>
          </a:p>
          <a:p>
            <a:pPr lvl="1" algn="just"/>
            <a:endParaRPr lang="en-GB" dirty="0"/>
          </a:p>
          <a:p>
            <a:pPr lvl="1" algn="just"/>
            <a:r>
              <a:rPr lang="en-GB" dirty="0"/>
              <a:t>R is an interpreted computer language </a:t>
            </a:r>
          </a:p>
          <a:p>
            <a:pPr lvl="2" algn="just"/>
            <a:r>
              <a:rPr lang="en-GB" dirty="0"/>
              <a:t>Allows modular programming using functions. </a:t>
            </a:r>
          </a:p>
          <a:p>
            <a:pPr lvl="2" algn="just"/>
            <a:r>
              <a:rPr lang="en-GB" dirty="0"/>
              <a:t>Allows integration of programs written in C, C++, .NET, Python or FORTRAN.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119" y="1960748"/>
            <a:ext cx="3126480" cy="250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3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459" y="118571"/>
            <a:ext cx="6598024" cy="62718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094" y="1595717"/>
            <a:ext cx="8483414" cy="397752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94447" y="1824995"/>
            <a:ext cx="2830046" cy="782357"/>
          </a:xfrm>
        </p:spPr>
        <p:txBody>
          <a:bodyPr>
            <a:normAutofit/>
          </a:bodyPr>
          <a:lstStyle/>
          <a:p>
            <a:pPr algn="ctr"/>
            <a:r>
              <a:rPr lang="en-GB" sz="2000" dirty="0">
                <a:latin typeface="Arial Black" panose="020B0A04020102020204" pitchFamily="34" charset="0"/>
              </a:rPr>
              <a:t>R Popularity Index and Growth</a:t>
            </a:r>
          </a:p>
        </p:txBody>
      </p:sp>
    </p:spTree>
    <p:extLst>
      <p:ext uri="{BB962C8B-B14F-4D97-AF65-F5344CB8AC3E}">
        <p14:creationId xmlns:p14="http://schemas.microsoft.com/office/powerpoint/2010/main" val="110906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88258" y="1295401"/>
            <a:ext cx="6270812" cy="40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87325" indent="-187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9pPr>
          </a:lstStyle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Data handling and storage: numeric, textual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matrix algebra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hash tables and regular expressions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high-level data analytic and statistical functions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classes (“OO”)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Graphics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programming language: loops, branching, subroutines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6459069" y="1295401"/>
            <a:ext cx="5446059" cy="4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87325" indent="-187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itchFamily="18" charset="-120"/>
              </a:defRPr>
            </a:lvl9pPr>
          </a:lstStyle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</a:rPr>
              <a:t>is not a database, but connects to DBMSs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</a:rPr>
              <a:t>has no graphical user interfaces, but connects to Java, TclTk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</a:rPr>
              <a:t>Language interpreter can be very slow, but allows to call own C/C++ code </a:t>
            </a: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</a:rPr>
              <a:t>no spreadsheet view of data, but connects to Excel/</a:t>
            </a:r>
            <a:r>
              <a:rPr kumimoji="0" lang="en-US" altLang="en-US" b="1" dirty="0" err="1">
                <a:solidFill>
                  <a:schemeClr val="accent6">
                    <a:lumMod val="75000"/>
                  </a:schemeClr>
                </a:solidFill>
              </a:rPr>
              <a:t>MsOffice</a:t>
            </a:r>
            <a:endParaRPr kumimoji="0" lang="en-US" alt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marL="457200" indent="-457200" eaLnBrk="1" hangingPunct="1">
              <a:spcBef>
                <a:spcPct val="30000"/>
              </a:spcBef>
              <a:buClr>
                <a:srgbClr val="FF3300"/>
              </a:buClr>
              <a:buFont typeface="+mj-lt"/>
              <a:buAutoNum type="arabicPeriod"/>
            </a:pPr>
            <a:r>
              <a:rPr kumimoji="0" lang="en-US" altLang="en-US" b="1" dirty="0">
                <a:solidFill>
                  <a:schemeClr val="accent6">
                    <a:lumMod val="75000"/>
                  </a:schemeClr>
                </a:solidFill>
              </a:rPr>
              <a:t>no professional/commercial support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259978"/>
            <a:ext cx="12192000" cy="782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600" dirty="0">
                <a:latin typeface="Arial Black" panose="020B0A04020102020204" pitchFamily="34" charset="0"/>
              </a:rPr>
              <a:t>What R does and does not</a:t>
            </a:r>
            <a:endParaRPr lang="en-GB" sz="3600" dirty="0"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5777317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 is world’s most widely used statistics programming language.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Number one choice of data scientists and supported by a vibrant and talented community of contributors.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 is taught in universities and deployed in mission critical business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589422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228701"/>
            <a:ext cx="12192000" cy="582605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latin typeface="Arial Black" panose="020B0A04020102020204" pitchFamily="34" charset="0"/>
              </a:rPr>
              <a:t>Why R for Biologist?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7128" y="1176208"/>
            <a:ext cx="103990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/>
              <a:t> The life of a biologist revolves around manipulation of tables, text and numbers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R is centred around the dataframe object: dataframes are essentially tables.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R functions and libraries that can manipulate data frames in powerful ways without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7128" y="2431266"/>
            <a:ext cx="103990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/>
              <a:t>Easy calculation of statistical parameters, tests and models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R functions and libraries for computational statistics (without programming)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7128" y="3409325"/>
            <a:ext cx="1039906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/>
              <a:t>Beautiful, straightforward and plotting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R functions and libraries for interactive and non-interactive plotting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7128" y="4387384"/>
            <a:ext cx="103990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400" dirty="0"/>
              <a:t>Runs uniformly on all operating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7128" y="5088444"/>
            <a:ext cx="103990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sv-SE" sz="2400" dirty="0"/>
              <a:t>It’s Free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3541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0" y="160125"/>
            <a:ext cx="12192000" cy="58513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4000" dirty="0">
                <a:latin typeface="Arial Black" panose="020B0A04020102020204" pitchFamily="34" charset="0"/>
              </a:rPr>
              <a:t>How to work on R Interfaces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694" y="1792941"/>
            <a:ext cx="3630706" cy="3768353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US" altLang="en-US" sz="2000" dirty="0"/>
              <a:t>Two means of working 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1800" dirty="0"/>
              <a:t>Logged into computer and work locally. When you logon in this manner you have a full GUI environment. </a:t>
            </a:r>
          </a:p>
          <a:p>
            <a:pPr marL="457200" lvl="1" indent="0" algn="just">
              <a:lnSpc>
                <a:spcPct val="80000"/>
              </a:lnSpc>
              <a:buNone/>
            </a:pPr>
            <a:endParaRPr lang="en-US" altLang="en-US" sz="1800" dirty="0"/>
          </a:p>
          <a:p>
            <a:pPr lvl="1" algn="just">
              <a:lnSpc>
                <a:spcPct val="80000"/>
              </a:lnSpc>
            </a:pPr>
            <a:r>
              <a:rPr lang="en-US" altLang="en-US" sz="1800" dirty="0"/>
              <a:t>OR connect remotely to one of the servers (whether from home or at the labs). When you logon in this manner you have a command line (or text based) environment.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23" y="662518"/>
            <a:ext cx="3260969" cy="2926118"/>
          </a:xfrm>
          <a:prstGeom prst="rect">
            <a:avLst/>
          </a:prstGeom>
        </p:spPr>
      </p:pic>
      <p:pic>
        <p:nvPicPr>
          <p:cNvPr id="8198" name="Picture 6" descr="linux - How to share the internet connection? - Unix &amp; Linux Stack Exchan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303" y="580746"/>
            <a:ext cx="3030068" cy="3096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7790092" y="1792943"/>
            <a:ext cx="1674304" cy="3795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429" y="4027005"/>
            <a:ext cx="2789253" cy="2287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9993" y="3588636"/>
            <a:ext cx="5086147" cy="31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20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812511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How can you work with R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91" y="812511"/>
            <a:ext cx="109463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latin typeface="Book Antiqua" panose="02040602050305030304" pitchFamily="18" charset="0"/>
              </a:rPr>
              <a:t>1. Local: windows/Linux/Mac user: You should install latest R Version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68" y="1625022"/>
            <a:ext cx="4081867" cy="32388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85217" y="2840477"/>
            <a:ext cx="2217906" cy="875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497" y="1534386"/>
            <a:ext cx="9669294" cy="496531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1812" y="2739962"/>
            <a:ext cx="1592093" cy="625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45" y="1517435"/>
            <a:ext cx="10495638" cy="455270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5293" y="2965315"/>
            <a:ext cx="1592093" cy="625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393" y="977639"/>
            <a:ext cx="10465543" cy="547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7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263"/>
            <a:ext cx="8239328" cy="53169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5672" y="228919"/>
            <a:ext cx="1451874" cy="1979784"/>
          </a:xfrm>
          <a:prstGeom prst="rect">
            <a:avLst/>
          </a:prstGeom>
          <a:noFill/>
          <a:ln w="857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337" y="590526"/>
            <a:ext cx="9918663" cy="686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80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86354" y="1736634"/>
            <a:ext cx="3793787" cy="578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Work on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91240" y="3314979"/>
            <a:ext cx="36520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/>
              <a:t>ssh</a:t>
            </a:r>
            <a:r>
              <a:rPr lang="en-GB" dirty="0"/>
              <a:t> -X </a:t>
            </a:r>
            <a:r>
              <a:rPr lang="en-GB" dirty="0">
                <a:hlinkClick r:id="rId3"/>
              </a:rPr>
              <a:t>phdstudent2023@172.18.0.91</a:t>
            </a:r>
            <a:endParaRPr lang="en-GB" dirty="0"/>
          </a:p>
          <a:p>
            <a:r>
              <a:rPr lang="en-GB" dirty="0"/>
              <a:t>Passwd:phdstudent2023_123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172" y="784698"/>
            <a:ext cx="744855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5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5098"/>
            <a:ext cx="12192000" cy="863462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latin typeface="Arial Black" panose="020B0A04020102020204" pitchFamily="34" charset="0"/>
              </a:rPr>
              <a:t>1. General R functions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2780"/>
            <a:ext cx="10718261" cy="4534293"/>
          </a:xfrm>
        </p:spPr>
        <p:txBody>
          <a:bodyPr>
            <a:normAutofit lnSpcReduction="10000"/>
          </a:bodyPr>
          <a:lstStyle/>
          <a:p>
            <a:r>
              <a:rPr lang="en-GB" b="1" dirty="0" err="1"/>
              <a:t>help.start</a:t>
            </a:r>
            <a:r>
              <a:rPr lang="en-GB" b="1" dirty="0"/>
              <a:t> ( )</a:t>
            </a:r>
            <a:r>
              <a:rPr lang="en-GB" dirty="0"/>
              <a:t> ## General Help in browser</a:t>
            </a:r>
          </a:p>
          <a:p>
            <a:r>
              <a:rPr lang="en-GB" b="1" dirty="0"/>
              <a:t>help() / ?</a:t>
            </a:r>
            <a:r>
              <a:rPr lang="en-GB" dirty="0"/>
              <a:t>  # help function </a:t>
            </a:r>
          </a:p>
          <a:p>
            <a:pPr lvl="1"/>
            <a:r>
              <a:rPr lang="en-GB" dirty="0"/>
              <a:t>Example:  Let's explore the lm function ( Fitting Linear Models)</a:t>
            </a:r>
          </a:p>
          <a:p>
            <a:pPr lvl="1"/>
            <a:r>
              <a:rPr lang="en-GB" b="1" dirty="0"/>
              <a:t>help(lm) </a:t>
            </a:r>
            <a:endParaRPr lang="en-GB" dirty="0"/>
          </a:p>
          <a:p>
            <a:pPr lvl="1"/>
            <a:r>
              <a:rPr lang="en-GB" b="1" dirty="0"/>
              <a:t>?lm</a:t>
            </a:r>
            <a:endParaRPr lang="en-GB" dirty="0"/>
          </a:p>
          <a:p>
            <a:r>
              <a:rPr lang="en-GB" b="1" dirty="0"/>
              <a:t>apropos ("lm") </a:t>
            </a:r>
            <a:r>
              <a:rPr lang="en-GB" dirty="0"/>
              <a:t># List of all functions containing string lm</a:t>
            </a:r>
          </a:p>
          <a:p>
            <a:r>
              <a:rPr lang="en-GB" b="1" dirty="0"/>
              <a:t>example (lm) </a:t>
            </a:r>
            <a:r>
              <a:rPr lang="en-GB" dirty="0"/>
              <a:t>  # This will show the example of lm function </a:t>
            </a:r>
          </a:p>
          <a:p>
            <a:r>
              <a:rPr lang="en-GB" b="1" dirty="0"/>
              <a:t>library()  </a:t>
            </a:r>
            <a:r>
              <a:rPr lang="en-GB" dirty="0"/>
              <a:t># To see a list of all installed packages </a:t>
            </a:r>
          </a:p>
          <a:p>
            <a:r>
              <a:rPr lang="en-GB" b="1" dirty="0"/>
              <a:t>help(package=“MASS”) </a:t>
            </a:r>
            <a:r>
              <a:rPr lang="en-GB" dirty="0"/>
              <a:t># To get information about packages</a:t>
            </a:r>
          </a:p>
          <a:p>
            <a:r>
              <a:rPr lang="en-GB" b="1" dirty="0"/>
              <a:t>data() </a:t>
            </a:r>
            <a:r>
              <a:rPr lang="en-GB" dirty="0"/>
              <a:t># To see available data-sets in 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84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32402"/>
          </a:xfrm>
        </p:spPr>
        <p:txBody>
          <a:bodyPr>
            <a:normAutofit/>
          </a:bodyPr>
          <a:lstStyle/>
          <a:p>
            <a:pPr algn="ctr"/>
            <a:r>
              <a:rPr lang="en-GB" sz="2800" b="1" dirty="0">
                <a:solidFill>
                  <a:schemeClr val="accent6">
                    <a:lumMod val="50000"/>
                  </a:schemeClr>
                </a:solidFill>
                <a:latin typeface="Book Antiqua" panose="02040602050305030304" pitchFamily="18" charset="0"/>
              </a:rPr>
              <a:t>RStudio: Installation and Working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12" y="1643974"/>
            <a:ext cx="4820312" cy="3900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33854" y="2811294"/>
            <a:ext cx="3249038" cy="3988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06" y="2472035"/>
            <a:ext cx="7307766" cy="371917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67711" y="5772922"/>
            <a:ext cx="2632478" cy="3988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4561" y="2628094"/>
            <a:ext cx="8433881" cy="396513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22365" y="4079545"/>
            <a:ext cx="1634242" cy="3988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2778" y="1353004"/>
            <a:ext cx="8586009" cy="52402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4561" y="0"/>
            <a:ext cx="9012390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278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08" y="0"/>
            <a:ext cx="9749873" cy="67439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46" y="488837"/>
            <a:ext cx="11274358" cy="625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6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728" y="44113"/>
            <a:ext cx="12192000" cy="461726"/>
          </a:xfrm>
        </p:spPr>
        <p:txBody>
          <a:bodyPr>
            <a:normAutofit fontScale="90000"/>
          </a:bodyPr>
          <a:lstStyle/>
          <a:p>
            <a:pPr algn="ctr"/>
            <a:r>
              <a:rPr lang="en-GB" sz="2800" dirty="0">
                <a:latin typeface="Arial Black" panose="020B0A04020102020204" pitchFamily="34" charset="0"/>
              </a:rPr>
              <a:t>Useful Short-cuts for R-Studio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727124"/>
              </p:ext>
            </p:extLst>
          </p:nvPr>
        </p:nvGraphicFramePr>
        <p:xfrm>
          <a:off x="406776" y="783640"/>
          <a:ext cx="7132158" cy="365760"/>
        </p:xfrm>
        <a:graphic>
          <a:graphicData uri="http://schemas.openxmlformats.org/drawingml/2006/table">
            <a:tbl>
              <a:tblPr/>
              <a:tblGrid>
                <a:gridCol w="204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4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Zoom Source Editor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3299730"/>
              </p:ext>
            </p:extLst>
          </p:nvPr>
        </p:nvGraphicFramePr>
        <p:xfrm>
          <a:off x="406776" y="1221216"/>
          <a:ext cx="7132158" cy="365760"/>
        </p:xfrm>
        <a:graphic>
          <a:graphicData uri="http://schemas.openxmlformats.org/drawingml/2006/table">
            <a:tbl>
              <a:tblPr/>
              <a:tblGrid>
                <a:gridCol w="2045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4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Zoom console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4250054"/>
              </p:ext>
            </p:extLst>
          </p:nvPr>
        </p:nvGraphicFramePr>
        <p:xfrm>
          <a:off x="406776" y="1761784"/>
          <a:ext cx="7200253" cy="365760"/>
        </p:xfrm>
        <a:graphic>
          <a:graphicData uri="http://schemas.openxmlformats.org/drawingml/2006/table">
            <a:tbl>
              <a:tblPr/>
              <a:tblGrid>
                <a:gridCol w="3464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Zoom RStudio</a:t>
                      </a:r>
                      <a:r>
                        <a:rPr lang="en-GB" baseline="0" dirty="0">
                          <a:effectLst/>
                        </a:rPr>
                        <a:t> Resources and help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0969348"/>
              </p:ext>
            </p:extLst>
          </p:nvPr>
        </p:nvGraphicFramePr>
        <p:xfrm>
          <a:off x="406776" y="2225440"/>
          <a:ext cx="7200253" cy="365760"/>
        </p:xfrm>
        <a:graphic>
          <a:graphicData uri="http://schemas.openxmlformats.org/drawingml/2006/table">
            <a:tbl>
              <a:tblPr/>
              <a:tblGrid>
                <a:gridCol w="3464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5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Zoom workspace</a:t>
                      </a:r>
                      <a:r>
                        <a:rPr lang="en-GB" baseline="0" dirty="0">
                          <a:effectLst/>
                        </a:rPr>
                        <a:t> and environment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: Ctrl+Shift+4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06776" y="3014157"/>
            <a:ext cx="3883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Setting Working directory:</a:t>
            </a:r>
          </a:p>
        </p:txBody>
      </p:sp>
    </p:spTree>
    <p:extLst>
      <p:ext uri="{BB962C8B-B14F-4D97-AF65-F5344CB8AC3E}">
        <p14:creationId xmlns:p14="http://schemas.microsoft.com/office/powerpoint/2010/main" val="45762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0" y="76281"/>
            <a:ext cx="12191999" cy="90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600" b="1" dirty="0"/>
              <a:t>Data objects in R</a:t>
            </a:r>
            <a:endParaRPr lang="en-GB" sz="3600" dirty="0"/>
          </a:p>
        </p:txBody>
      </p:sp>
      <p:sp>
        <p:nvSpPr>
          <p:cNvPr id="96" name="CustomShape 2"/>
          <p:cNvSpPr/>
          <p:nvPr/>
        </p:nvSpPr>
        <p:spPr>
          <a:xfrm>
            <a:off x="520028" y="985281"/>
            <a:ext cx="11394334" cy="5590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Very important to understand,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Use and manipulate on a day-to-day basis in 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Dealing with data conversions is one of the sources of frustration for beginners. </a:t>
            </a:r>
          </a:p>
          <a:p>
            <a:pPr algn="just"/>
            <a:endParaRPr lang="en-GB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400" dirty="0"/>
              <a:t>Data Objects in R</a:t>
            </a:r>
          </a:p>
          <a:p>
            <a:r>
              <a:rPr lang="en-GB" sz="2400" dirty="0"/>
              <a:t>	</a:t>
            </a:r>
            <a:r>
              <a:rPr lang="en-GB" sz="2400" b="1" dirty="0"/>
              <a:t>a. Variable</a:t>
            </a:r>
          </a:p>
          <a:p>
            <a:r>
              <a:rPr lang="en-GB" sz="2400" b="1" dirty="0"/>
              <a:t>	b. Vectors (numerical, character, logical)</a:t>
            </a:r>
          </a:p>
          <a:p>
            <a:r>
              <a:rPr lang="en-GB" sz="2400" b="1" dirty="0"/>
              <a:t>	c. Matrices</a:t>
            </a:r>
          </a:p>
          <a:p>
            <a:r>
              <a:rPr lang="en-GB" sz="2400" b="1" dirty="0"/>
              <a:t>	d. Data frames</a:t>
            </a:r>
          </a:p>
          <a:p>
            <a:r>
              <a:rPr lang="en-GB" sz="2400" b="1" dirty="0"/>
              <a:t>	e. Lists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For easy learning and best understanding, our main focus is to learn about data object's</a:t>
            </a:r>
          </a:p>
          <a:p>
            <a:r>
              <a:rPr lang="en-GB" sz="2400" b="1" dirty="0"/>
              <a:t>	# Creation and Accessing</a:t>
            </a:r>
            <a:endParaRPr lang="en-GB" sz="2400" dirty="0"/>
          </a:p>
          <a:p>
            <a:r>
              <a:rPr lang="en-GB" sz="2400" b="1" dirty="0"/>
              <a:t>	# sub-setting and deletion </a:t>
            </a:r>
            <a:endParaRPr lang="en-GB" sz="2400" dirty="0"/>
          </a:p>
          <a:p>
            <a:r>
              <a:rPr lang="en-GB" sz="2400" b="1" dirty="0"/>
              <a:t>	# Basic arithmetical and logical  operations </a:t>
            </a:r>
            <a:endParaRPr lang="en-GB" sz="2400" dirty="0"/>
          </a:p>
          <a:p>
            <a:endParaRPr lang="en-GB" sz="2400" dirty="0"/>
          </a:p>
          <a:p>
            <a:pPr>
              <a:lnSpc>
                <a:spcPct val="15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496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1" y="76281"/>
            <a:ext cx="3288560" cy="90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600" b="1" dirty="0"/>
              <a:t>R Variable</a:t>
            </a:r>
            <a:endParaRPr lang="en-GB" sz="3600" dirty="0"/>
          </a:p>
        </p:txBody>
      </p:sp>
      <p:sp>
        <p:nvSpPr>
          <p:cNvPr id="96" name="CustomShape 2"/>
          <p:cNvSpPr/>
          <p:nvPr/>
        </p:nvSpPr>
        <p:spPr>
          <a:xfrm>
            <a:off x="638781" y="985281"/>
            <a:ext cx="11394334" cy="5590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n-GB" sz="2400" dirty="0"/>
          </a:p>
          <a:p>
            <a:pPr>
              <a:lnSpc>
                <a:spcPct val="15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365084" y="2265498"/>
            <a:ext cx="10956254" cy="45925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400" b="1" dirty="0"/>
              <a:t>Variable creation </a:t>
            </a:r>
            <a:r>
              <a:rPr lang="en-GB" sz="2400" dirty="0"/>
              <a:t> # Variable naming (letter, digit . and _) </a:t>
            </a:r>
          </a:p>
          <a:p>
            <a:r>
              <a:rPr lang="en-GB" sz="2400" dirty="0"/>
              <a:t>      			# To declare a variable:  use the `&lt;-` (leftward, rightward) </a:t>
            </a:r>
          </a:p>
          <a:p>
            <a:r>
              <a:rPr lang="en-GB" sz="2400" dirty="0"/>
              <a:t>				OR  `=` (equal)</a:t>
            </a:r>
          </a:p>
          <a:p>
            <a:r>
              <a:rPr lang="en-GB" sz="2400" dirty="0"/>
              <a:t>        </a:t>
            </a:r>
            <a:r>
              <a:rPr lang="en-GB" sz="2400" dirty="0" err="1">
                <a:solidFill>
                  <a:srgbClr val="FF0000"/>
                </a:solidFill>
              </a:rPr>
              <a:t>name_of_variable</a:t>
            </a:r>
            <a:r>
              <a:rPr lang="en-GB" sz="2400" dirty="0">
                <a:solidFill>
                  <a:srgbClr val="FF0000"/>
                </a:solidFill>
              </a:rPr>
              <a:t> &lt;- value;  </a:t>
            </a:r>
            <a:r>
              <a:rPr lang="en-GB" sz="2400" dirty="0">
                <a:solidFill>
                  <a:srgbClr val="00B050"/>
                </a:solidFill>
              </a:rPr>
              <a:t>value -&gt; </a:t>
            </a:r>
            <a:r>
              <a:rPr lang="en-GB" sz="2400" dirty="0" err="1">
                <a:solidFill>
                  <a:srgbClr val="00B050"/>
                </a:solidFill>
              </a:rPr>
              <a:t>name_of_variable</a:t>
            </a:r>
            <a:r>
              <a:rPr lang="en-GB" sz="2400" dirty="0"/>
              <a:t>; </a:t>
            </a:r>
            <a:r>
              <a:rPr lang="en-GB" sz="2400" dirty="0" err="1">
                <a:solidFill>
                  <a:srgbClr val="7030A0"/>
                </a:solidFill>
              </a:rPr>
              <a:t>name_of_variable</a:t>
            </a:r>
            <a:r>
              <a:rPr lang="en-GB" sz="2400" dirty="0">
                <a:solidFill>
                  <a:srgbClr val="7030A0"/>
                </a:solidFill>
              </a:rPr>
              <a:t> =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Access of variable value: print() or cat() </a:t>
            </a:r>
            <a:r>
              <a:rPr lang="en-GB" sz="2400" dirty="0"/>
              <a:t> # cat() can print multiple items together.</a:t>
            </a:r>
          </a:p>
          <a:p>
            <a:r>
              <a:rPr lang="en-GB" sz="2400" dirty="0"/>
              <a:t>            x &lt;- 3; x			 y=5; y</a:t>
            </a:r>
          </a:p>
          <a:p>
            <a:r>
              <a:rPr lang="en-GB" sz="2400" dirty="0"/>
              <a:t>            3-&gt;x1; x1		z="R is great"; z</a:t>
            </a:r>
          </a:p>
          <a:p>
            <a:r>
              <a:rPr lang="en-GB" sz="2400" dirty="0"/>
              <a:t>            l &lt;- TRUE; l</a:t>
            </a:r>
          </a:p>
          <a:p>
            <a:r>
              <a:rPr lang="en-GB" sz="2400" dirty="0"/>
              <a:t>      	print (x); cat (</a:t>
            </a:r>
            <a:r>
              <a:rPr lang="en-GB" sz="2400" dirty="0" err="1"/>
              <a:t>x,y</a:t>
            </a:r>
            <a:r>
              <a:rPr lang="en-GB" sz="2400" dirty="0"/>
              <a:t>)         #Note: class function : class(x); class(y); class(z); class(l)</a:t>
            </a:r>
          </a:p>
          <a:p>
            <a:endParaRPr lang="en-GB" sz="2400" dirty="0">
              <a:solidFill>
                <a:srgbClr val="7030A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To deletion of variable</a:t>
            </a:r>
            <a:r>
              <a:rPr lang="en-GB" sz="2400" dirty="0"/>
              <a:t>	</a:t>
            </a:r>
            <a:r>
              <a:rPr lang="en-GB" sz="2400" dirty="0" err="1"/>
              <a:t>rm</a:t>
            </a:r>
            <a:r>
              <a:rPr lang="en-GB" sz="2400" dirty="0"/>
              <a:t>(x); x; </a:t>
            </a:r>
            <a:r>
              <a:rPr lang="en-GB" sz="2400" dirty="0" err="1"/>
              <a:t>rm</a:t>
            </a:r>
            <a:r>
              <a:rPr lang="en-GB" sz="2400" dirty="0"/>
              <a:t> (</a:t>
            </a:r>
            <a:r>
              <a:rPr lang="en-GB" sz="2400" dirty="0" err="1"/>
              <a:t>y,z</a:t>
            </a:r>
            <a:r>
              <a:rPr lang="en-GB" sz="2400" dirty="0"/>
              <a:t>); </a:t>
            </a:r>
            <a:r>
              <a:rPr lang="en-GB" sz="2400" dirty="0" err="1"/>
              <a:t>y;z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To find variable in workspace</a:t>
            </a:r>
            <a:r>
              <a:rPr lang="en-GB" sz="2400" dirty="0"/>
              <a:t>	ls() ; #OR  print(ls())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136EB-B15E-B6C2-8DE8-73E1C8756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033" y="76281"/>
            <a:ext cx="5310098" cy="21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0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31524" y="595702"/>
            <a:ext cx="8881353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/>
              <a:t>Basic operation</a:t>
            </a:r>
            <a:endParaRPr lang="en-GB" sz="2400" dirty="0"/>
          </a:p>
          <a:p>
            <a:r>
              <a:rPr lang="en-GB" dirty="0"/>
              <a:t>     </a:t>
            </a:r>
            <a:r>
              <a:rPr lang="en-GB" b="1" dirty="0"/>
              <a:t> # </a:t>
            </a:r>
            <a:r>
              <a:rPr lang="en-GB" b="1" dirty="0" err="1"/>
              <a:t>Arithematic</a:t>
            </a:r>
            <a:r>
              <a:rPr lang="en-GB" b="1" dirty="0"/>
              <a:t> operations</a:t>
            </a:r>
            <a:endParaRPr lang="en-GB" dirty="0"/>
          </a:p>
          <a:p>
            <a:r>
              <a:rPr lang="en-GB" dirty="0"/>
              <a:t>         x+y;  	# + : Addition</a:t>
            </a:r>
          </a:p>
          <a:p>
            <a:r>
              <a:rPr lang="en-GB" dirty="0"/>
              <a:t>          x-y;  	# - : Subtraction</a:t>
            </a:r>
          </a:p>
          <a:p>
            <a:r>
              <a:rPr lang="en-GB" dirty="0"/>
              <a:t>          x*y;  	# * : Multiplication</a:t>
            </a:r>
          </a:p>
          <a:p>
            <a:r>
              <a:rPr lang="en-GB" dirty="0"/>
              <a:t>           y/x;  	# / : Division</a:t>
            </a:r>
          </a:p>
          <a:p>
            <a:r>
              <a:rPr lang="en-GB" dirty="0"/>
              <a:t>          x^2 ;  	# ^ or **  : Exponentiation </a:t>
            </a:r>
          </a:p>
          <a:p>
            <a:r>
              <a:rPr lang="en-GB" dirty="0"/>
              <a:t>         y%%x;  	# %% : Modulus (Remainder from division)</a:t>
            </a:r>
          </a:p>
          <a:p>
            <a:r>
              <a:rPr lang="en-GB" dirty="0"/>
              <a:t>         y%/%x ; 	# %/% : Integer Division</a:t>
            </a:r>
          </a:p>
          <a:p>
            <a:r>
              <a:rPr lang="en-GB" dirty="0"/>
              <a:t>       </a:t>
            </a:r>
          </a:p>
          <a:p>
            <a:r>
              <a:rPr lang="en-GB" b="1" dirty="0"/>
              <a:t>      # Logical operation </a:t>
            </a:r>
            <a:endParaRPr lang="en-GB" dirty="0"/>
          </a:p>
          <a:p>
            <a:r>
              <a:rPr lang="en-GB" dirty="0"/>
              <a:t>         x &lt; 8         	# &lt; :less than</a:t>
            </a:r>
          </a:p>
          <a:p>
            <a:r>
              <a:rPr lang="en-GB" dirty="0"/>
              <a:t>         x &lt;= 8         	# &lt;= :less than or equal to</a:t>
            </a:r>
          </a:p>
          <a:p>
            <a:r>
              <a:rPr lang="en-GB" dirty="0"/>
              <a:t>         y &gt; 3            	# &gt; :greater than</a:t>
            </a:r>
          </a:p>
          <a:p>
            <a:r>
              <a:rPr lang="en-GB" dirty="0"/>
              <a:t>          y &gt;= 3            	# &gt;= :greater than or equal to</a:t>
            </a:r>
          </a:p>
          <a:p>
            <a:r>
              <a:rPr lang="en-GB" dirty="0"/>
              <a:t>         x == 3               # == :exactly equal to</a:t>
            </a:r>
          </a:p>
          <a:p>
            <a:r>
              <a:rPr lang="en-GB" dirty="0"/>
              <a:t>         x!= 3                # != :not equal to</a:t>
            </a:r>
          </a:p>
          <a:p>
            <a:r>
              <a:rPr lang="en-GB" dirty="0"/>
              <a:t>          x &gt; 2 | x &lt; 1   # x | y :x OR y</a:t>
            </a:r>
          </a:p>
          <a:p>
            <a:r>
              <a:rPr lang="en-GB" dirty="0"/>
              <a:t>         x &gt; 2 &amp; x &lt; 1    # x &amp; y :x AND y</a:t>
            </a:r>
          </a:p>
        </p:txBody>
      </p:sp>
    </p:spTree>
    <p:extLst>
      <p:ext uri="{BB962C8B-B14F-4D97-AF65-F5344CB8AC3E}">
        <p14:creationId xmlns:p14="http://schemas.microsoft.com/office/powerpoint/2010/main" val="3481258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0" y="76281"/>
            <a:ext cx="2583283" cy="909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GB" sz="3600" b="1" dirty="0"/>
              <a:t>2. R Vector</a:t>
            </a:r>
            <a:endParaRPr lang="en-GB" sz="3600" dirty="0"/>
          </a:p>
        </p:txBody>
      </p:sp>
      <p:sp>
        <p:nvSpPr>
          <p:cNvPr id="96" name="CustomShape 2"/>
          <p:cNvSpPr/>
          <p:nvPr/>
        </p:nvSpPr>
        <p:spPr>
          <a:xfrm>
            <a:off x="638781" y="985281"/>
            <a:ext cx="11394334" cy="5590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n-GB" sz="2400" dirty="0"/>
          </a:p>
          <a:p>
            <a:pPr>
              <a:lnSpc>
                <a:spcPct val="15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254869" y="1283440"/>
            <a:ext cx="11394334" cy="51173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sv-SE" sz="2400" b="1" dirty="0">
                <a:solidFill>
                  <a:schemeClr val="accent6">
                    <a:lumMod val="50000"/>
                  </a:schemeClr>
                </a:solidFill>
              </a:rPr>
              <a:t># One-dimensional </a:t>
            </a:r>
            <a:r>
              <a:rPr lang="sv-SE" sz="2400" b="1" dirty="0" err="1">
                <a:solidFill>
                  <a:schemeClr val="accent6">
                    <a:lumMod val="50000"/>
                  </a:schemeClr>
                </a:solidFill>
              </a:rPr>
              <a:t>array</a:t>
            </a:r>
            <a:r>
              <a:rPr lang="sv-SE" sz="2400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# A vector can have all the basic data type such as</a:t>
            </a:r>
          </a:p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# logical, integer, double, complex, character and raw (mix of all) </a:t>
            </a:r>
          </a:p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# The simplest way to build a vector in R, is to use the c command with ( ). </a:t>
            </a:r>
            <a:endParaRPr lang="en-GB" sz="2400" b="1" dirty="0"/>
          </a:p>
          <a:p>
            <a:pPr algn="just"/>
            <a:r>
              <a:rPr lang="en-GB" sz="2400" b="1" dirty="0"/>
              <a:t># A. </a:t>
            </a:r>
            <a:r>
              <a:rPr lang="sv-SE" sz="2400" b="1" dirty="0"/>
              <a:t>Vector Syntax</a:t>
            </a:r>
          </a:p>
          <a:p>
            <a:r>
              <a:rPr lang="sv-SE" sz="2400" dirty="0"/>
              <a:t>      </a:t>
            </a:r>
            <a:r>
              <a:rPr lang="sv-SE" sz="2400" i="1" dirty="0"/>
              <a:t>name_of_vector &lt;- c(value1, value2,....n)</a:t>
            </a:r>
          </a:p>
          <a:p>
            <a:r>
              <a:rPr lang="sv-SE" sz="2400" dirty="0"/>
              <a:t>      		# Single/ Multiple Elements Vector</a:t>
            </a:r>
          </a:p>
          <a:p>
            <a:r>
              <a:rPr lang="en-GB" sz="2400" dirty="0"/>
              <a:t>      		# Rules for vector naming: Same as variable</a:t>
            </a:r>
          </a:p>
          <a:p>
            <a:r>
              <a:rPr lang="en-GB" sz="2400" b="1" dirty="0"/>
              <a:t># B. Access of vector elements</a:t>
            </a:r>
          </a:p>
          <a:p>
            <a:r>
              <a:rPr lang="en-GB" sz="2400" dirty="0"/>
              <a:t>      # Elements of a vector can be accessed using indexing [ ]</a:t>
            </a:r>
          </a:p>
          <a:p>
            <a:r>
              <a:rPr lang="en-GB" sz="2400" dirty="0"/>
              <a:t>      # Indexing starts with position 1</a:t>
            </a:r>
          </a:p>
          <a:p>
            <a:r>
              <a:rPr lang="sv-SE" sz="2400" dirty="0"/>
              <a:t>      	</a:t>
            </a:r>
            <a:r>
              <a:rPr lang="sv-SE" sz="2400" dirty="0" err="1"/>
              <a:t>Vec_num</a:t>
            </a:r>
            <a:r>
              <a:rPr lang="sv-SE" sz="2400" dirty="0"/>
              <a:t> &lt;- (15); </a:t>
            </a:r>
            <a:r>
              <a:rPr lang="sv-SE" sz="2400" dirty="0" err="1"/>
              <a:t>Vec_num</a:t>
            </a:r>
            <a:r>
              <a:rPr lang="sv-SE" sz="2400" dirty="0"/>
              <a:t>[1]; </a:t>
            </a:r>
            <a:r>
              <a:rPr lang="sv-SE" sz="2400" dirty="0" err="1"/>
              <a:t>Vec_num</a:t>
            </a:r>
            <a:r>
              <a:rPr lang="sv-SE" sz="2400" dirty="0"/>
              <a:t>[2]</a:t>
            </a:r>
          </a:p>
          <a:p>
            <a:r>
              <a:rPr lang="pt-BR" sz="2400" dirty="0"/>
              <a:t>      	Vec_num &lt;- c(15, 17, 19) # numeric vector</a:t>
            </a:r>
          </a:p>
          <a:p>
            <a:r>
              <a:rPr lang="sv-SE" sz="2400" dirty="0"/>
              <a:t>      	</a:t>
            </a:r>
            <a:r>
              <a:rPr lang="sv-SE" sz="2400" dirty="0" err="1"/>
              <a:t>Vec_num</a:t>
            </a:r>
            <a:endParaRPr lang="sv-SE" sz="2400" dirty="0"/>
          </a:p>
          <a:p>
            <a:endParaRPr lang="sv-S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8D935-EC8F-0B9E-C54C-BABC5A939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592" y="21260"/>
            <a:ext cx="4348611" cy="19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2"/>
          <p:cNvSpPr/>
          <p:nvPr/>
        </p:nvSpPr>
        <p:spPr>
          <a:xfrm>
            <a:off x="638781" y="985281"/>
            <a:ext cx="11394334" cy="5590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n-GB" sz="2400" dirty="0"/>
          </a:p>
          <a:p>
            <a:pPr>
              <a:lnSpc>
                <a:spcPct val="15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488775" y="285581"/>
            <a:ext cx="11394334" cy="618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sv-SE" sz="2400" b="1" dirty="0"/>
              <a:t> # </a:t>
            </a:r>
            <a:r>
              <a:rPr lang="sv-SE" sz="2400" b="1" dirty="0" err="1"/>
              <a:t>Character</a:t>
            </a:r>
            <a:r>
              <a:rPr lang="sv-SE" sz="2400" b="1" dirty="0"/>
              <a:t> </a:t>
            </a:r>
            <a:r>
              <a:rPr lang="sv-SE" sz="2400" b="1" dirty="0" err="1"/>
              <a:t>vector</a:t>
            </a:r>
            <a:endParaRPr lang="sv-SE" sz="2400" b="1" dirty="0"/>
          </a:p>
          <a:p>
            <a:r>
              <a:rPr lang="sv-SE" sz="2400" dirty="0" err="1"/>
              <a:t>Vec_chr</a:t>
            </a:r>
            <a:r>
              <a:rPr lang="sv-SE" sz="2400" dirty="0"/>
              <a:t> &lt;- c("a", "b", "c") ; </a:t>
            </a:r>
            <a:r>
              <a:rPr lang="sv-SE" sz="2400" dirty="0" err="1"/>
              <a:t>Vec_chr</a:t>
            </a:r>
            <a:endParaRPr lang="sv-SE" sz="2400" dirty="0"/>
          </a:p>
          <a:p>
            <a:endParaRPr lang="sv-SE" sz="2400" dirty="0"/>
          </a:p>
          <a:p>
            <a:r>
              <a:rPr lang="sv-SE" sz="2400" b="1" dirty="0"/>
              <a:t># </a:t>
            </a:r>
            <a:r>
              <a:rPr lang="sv-SE" sz="2400" b="1" dirty="0" err="1"/>
              <a:t>logical</a:t>
            </a:r>
            <a:r>
              <a:rPr lang="sv-SE" sz="2400" b="1" dirty="0"/>
              <a:t> </a:t>
            </a:r>
            <a:r>
              <a:rPr lang="sv-SE" sz="2400" b="1" dirty="0" err="1"/>
              <a:t>vector</a:t>
            </a:r>
            <a:endParaRPr lang="sv-SE" sz="2400" b="1" dirty="0"/>
          </a:p>
          <a:p>
            <a:r>
              <a:rPr lang="sv-SE" sz="2400" dirty="0"/>
              <a:t>      </a:t>
            </a:r>
            <a:r>
              <a:rPr lang="sv-SE" sz="2400" dirty="0" err="1"/>
              <a:t>Vec_logi</a:t>
            </a:r>
            <a:r>
              <a:rPr lang="sv-SE" sz="2400" dirty="0"/>
              <a:t> &lt;-  c(FALSE, FALSE, TRUE) ; </a:t>
            </a:r>
            <a:r>
              <a:rPr lang="sv-SE" sz="2400" dirty="0" err="1"/>
              <a:t>Vec_logi</a:t>
            </a:r>
            <a:endParaRPr lang="sv-SE" sz="2400" dirty="0"/>
          </a:p>
          <a:p>
            <a:endParaRPr lang="sv-SE" sz="2400" dirty="0"/>
          </a:p>
          <a:p>
            <a:r>
              <a:rPr lang="sv-SE" sz="2400" b="1" dirty="0"/>
              <a:t># Mix </a:t>
            </a:r>
            <a:r>
              <a:rPr lang="sv-SE" sz="2400" b="1" dirty="0" err="1"/>
              <a:t>vector</a:t>
            </a:r>
            <a:endParaRPr lang="sv-SE" sz="2400" b="1" dirty="0"/>
          </a:p>
          <a:p>
            <a:r>
              <a:rPr lang="en-GB" sz="2400" dirty="0" err="1"/>
              <a:t>Vec_exp</a:t>
            </a:r>
            <a:r>
              <a:rPr lang="en-GB" sz="2400" dirty="0"/>
              <a:t> &lt;- c('yellow',5,TRUE) # if one/more values are character, all DT will be characters </a:t>
            </a:r>
          </a:p>
          <a:p>
            <a:r>
              <a:rPr lang="sv-SE" sz="2400" dirty="0"/>
              <a:t> print(</a:t>
            </a:r>
            <a:r>
              <a:rPr lang="sv-SE" sz="2400" dirty="0" err="1"/>
              <a:t>Vec_exp</a:t>
            </a:r>
            <a:r>
              <a:rPr lang="sv-SE" sz="2400" dirty="0"/>
              <a:t>)</a:t>
            </a:r>
          </a:p>
          <a:p>
            <a:endParaRPr lang="sv-SE" sz="2400" dirty="0"/>
          </a:p>
          <a:p>
            <a:r>
              <a:rPr lang="sv-SE" sz="2400" b="1" dirty="0"/>
              <a:t>#Note: </a:t>
            </a:r>
            <a:r>
              <a:rPr lang="sv-SE" sz="2400" b="1" dirty="0" err="1"/>
              <a:t>class</a:t>
            </a:r>
            <a:r>
              <a:rPr lang="sv-SE" sz="2400" b="1" dirty="0"/>
              <a:t> </a:t>
            </a:r>
            <a:r>
              <a:rPr lang="sv-SE" sz="2400" b="1" dirty="0" err="1"/>
              <a:t>function</a:t>
            </a:r>
            <a:endParaRPr lang="sv-SE" sz="2400" b="1" dirty="0"/>
          </a:p>
          <a:p>
            <a:r>
              <a:rPr lang="sv-SE" sz="2400" dirty="0" err="1"/>
              <a:t>class</a:t>
            </a:r>
            <a:r>
              <a:rPr lang="sv-SE" sz="2400" dirty="0"/>
              <a:t>(</a:t>
            </a:r>
            <a:r>
              <a:rPr lang="sv-SE" sz="2400" dirty="0" err="1"/>
              <a:t>Vec_num</a:t>
            </a:r>
            <a:r>
              <a:rPr lang="sv-SE" sz="2400" dirty="0"/>
              <a:t>); </a:t>
            </a:r>
            <a:r>
              <a:rPr lang="sv-SE" sz="2400" dirty="0" err="1"/>
              <a:t>class</a:t>
            </a:r>
            <a:r>
              <a:rPr lang="sv-SE" sz="2400" dirty="0"/>
              <a:t>(</a:t>
            </a:r>
            <a:r>
              <a:rPr lang="sv-SE" sz="2400" dirty="0" err="1"/>
              <a:t>Vec_chr</a:t>
            </a:r>
            <a:r>
              <a:rPr lang="sv-SE" sz="2400" dirty="0"/>
              <a:t>); </a:t>
            </a:r>
            <a:r>
              <a:rPr lang="sv-SE" sz="2400" dirty="0" err="1"/>
              <a:t>class</a:t>
            </a:r>
            <a:r>
              <a:rPr lang="sv-SE" sz="2400" dirty="0"/>
              <a:t>(</a:t>
            </a:r>
            <a:r>
              <a:rPr lang="sv-SE" sz="2400" dirty="0" err="1"/>
              <a:t>Vec_logi</a:t>
            </a:r>
            <a:r>
              <a:rPr lang="sv-SE" sz="2400" dirty="0"/>
              <a:t>);  </a:t>
            </a:r>
            <a:r>
              <a:rPr lang="sv-SE" sz="2400" dirty="0" err="1"/>
              <a:t>class</a:t>
            </a:r>
            <a:r>
              <a:rPr lang="sv-SE" sz="2400" dirty="0"/>
              <a:t>(</a:t>
            </a:r>
            <a:r>
              <a:rPr lang="sv-SE" sz="2400" dirty="0" err="1"/>
              <a:t>Vec_exp</a:t>
            </a:r>
            <a:r>
              <a:rPr lang="sv-SE" sz="2400" dirty="0"/>
              <a:t>); </a:t>
            </a:r>
          </a:p>
          <a:p>
            <a:endParaRPr lang="sv-SE" sz="2400" dirty="0"/>
          </a:p>
          <a:p>
            <a:r>
              <a:rPr lang="en-GB" sz="2400" b="1" dirty="0"/>
              <a:t># Some methods for quick vector creation</a:t>
            </a:r>
          </a:p>
          <a:p>
            <a:r>
              <a:rPr lang="sv-SE" sz="2400" dirty="0"/>
              <a:t>        </a:t>
            </a:r>
            <a:r>
              <a:rPr lang="sv-SE" sz="2400" dirty="0" err="1"/>
              <a:t>Vec_cr</a:t>
            </a:r>
            <a:r>
              <a:rPr lang="sv-SE" sz="2400" dirty="0"/>
              <a:t> &lt;- 1:10; print(</a:t>
            </a:r>
            <a:r>
              <a:rPr lang="sv-SE" sz="2400" dirty="0" err="1"/>
              <a:t>Vec_cr</a:t>
            </a:r>
            <a:r>
              <a:rPr lang="sv-SE" sz="2400" dirty="0"/>
              <a:t>)</a:t>
            </a:r>
          </a:p>
          <a:p>
            <a:r>
              <a:rPr lang="sv-SE" sz="2400" dirty="0"/>
              <a:t>        </a:t>
            </a:r>
            <a:r>
              <a:rPr lang="sv-SE" sz="2400" dirty="0" err="1"/>
              <a:t>Vec_cr</a:t>
            </a:r>
            <a:r>
              <a:rPr lang="sv-SE" sz="2400" dirty="0"/>
              <a:t>  &lt;- 1.5:5.6; print(</a:t>
            </a:r>
            <a:r>
              <a:rPr lang="sv-SE" sz="2400" dirty="0" err="1"/>
              <a:t>Vec_cr</a:t>
            </a:r>
            <a:r>
              <a:rPr lang="sv-SE" sz="2400" dirty="0"/>
              <a:t>)</a:t>
            </a:r>
          </a:p>
          <a:p>
            <a:r>
              <a:rPr lang="sv-SE" sz="2400" dirty="0"/>
              <a:t>        </a:t>
            </a:r>
          </a:p>
          <a:p>
            <a:r>
              <a:rPr lang="sv-SE" sz="2400" dirty="0"/>
              <a:t>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48417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2"/>
          <p:cNvSpPr/>
          <p:nvPr/>
        </p:nvSpPr>
        <p:spPr>
          <a:xfrm>
            <a:off x="638781" y="985281"/>
            <a:ext cx="11394334" cy="55906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endParaRPr lang="en-GB" sz="2400" dirty="0"/>
          </a:p>
          <a:p>
            <a:pPr>
              <a:lnSpc>
                <a:spcPct val="15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CustomShape 2"/>
          <p:cNvSpPr/>
          <p:nvPr/>
        </p:nvSpPr>
        <p:spPr>
          <a:xfrm>
            <a:off x="488775" y="285581"/>
            <a:ext cx="11394334" cy="6186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sv-SE" sz="2400" b="1" dirty="0"/>
              <a:t> </a:t>
            </a:r>
            <a:r>
              <a:rPr lang="sv-SE" sz="2400" b="1" dirty="0" err="1"/>
              <a:t>seq</a:t>
            </a:r>
            <a:r>
              <a:rPr lang="sv-SE" sz="2400" b="1" dirty="0"/>
              <a:t> </a:t>
            </a:r>
            <a:r>
              <a:rPr lang="sv-SE" sz="2400" b="1" dirty="0" err="1"/>
              <a:t>function</a:t>
            </a:r>
            <a:endParaRPr lang="sv-SE" sz="2400" b="1" dirty="0"/>
          </a:p>
          <a:p>
            <a:r>
              <a:rPr lang="en-GB" sz="2400" i="1" dirty="0"/>
              <a:t>        #</a:t>
            </a:r>
            <a:r>
              <a:rPr lang="en-GB" sz="2400" i="1" dirty="0" err="1"/>
              <a:t>Vec_cr</a:t>
            </a:r>
            <a:r>
              <a:rPr lang="en-GB" sz="2400" i="1" dirty="0"/>
              <a:t> &lt;- </a:t>
            </a:r>
            <a:r>
              <a:rPr lang="en-GB" sz="2400" i="1" dirty="0" err="1"/>
              <a:t>seq</a:t>
            </a:r>
            <a:r>
              <a:rPr lang="en-GB" sz="2400" i="1" dirty="0"/>
              <a:t>(start digit, end digit, "difference in numbers " by = 0.4)</a:t>
            </a:r>
          </a:p>
          <a:p>
            <a:r>
              <a:rPr lang="sv-SE" sz="2400" dirty="0"/>
              <a:t>        </a:t>
            </a:r>
            <a:r>
              <a:rPr lang="sv-SE" sz="2400" dirty="0" err="1"/>
              <a:t>Vec_cr</a:t>
            </a:r>
            <a:r>
              <a:rPr lang="sv-SE" sz="2400" dirty="0"/>
              <a:t> &lt;- </a:t>
            </a:r>
            <a:r>
              <a:rPr lang="sv-SE" sz="2400" dirty="0" err="1"/>
              <a:t>seq</a:t>
            </a:r>
            <a:r>
              <a:rPr lang="sv-SE" sz="2400" dirty="0"/>
              <a:t>(5, 9, by = 0.4); print(</a:t>
            </a:r>
            <a:r>
              <a:rPr lang="sv-SE" sz="2400" dirty="0" err="1"/>
              <a:t>Vec_cr</a:t>
            </a:r>
            <a:r>
              <a:rPr lang="sv-SE" sz="2400" dirty="0"/>
              <a:t>)</a:t>
            </a:r>
          </a:p>
          <a:p>
            <a:endParaRPr lang="sv-SE" sz="2400" dirty="0"/>
          </a:p>
          <a:p>
            <a:r>
              <a:rPr lang="sv-SE" sz="2400" b="1" dirty="0"/>
              <a:t>#C. </a:t>
            </a:r>
            <a:r>
              <a:rPr lang="sv-SE" sz="2400" b="1" dirty="0" err="1"/>
              <a:t>slicing</a:t>
            </a:r>
            <a:r>
              <a:rPr lang="sv-SE" sz="2400" b="1" dirty="0"/>
              <a:t>/</a:t>
            </a:r>
            <a:r>
              <a:rPr lang="sv-SE" sz="2400" b="1" dirty="0" err="1"/>
              <a:t>subsetting</a:t>
            </a:r>
            <a:r>
              <a:rPr lang="sv-SE" sz="2400" b="1" dirty="0"/>
              <a:t> of </a:t>
            </a:r>
            <a:r>
              <a:rPr lang="sv-SE" sz="2400" b="1" dirty="0" err="1"/>
              <a:t>vector</a:t>
            </a:r>
            <a:r>
              <a:rPr lang="sv-SE" sz="2400" b="1" dirty="0"/>
              <a:t>. </a:t>
            </a:r>
            <a:endParaRPr lang="sv-SE" sz="2400" dirty="0"/>
          </a:p>
          <a:p>
            <a:r>
              <a:rPr lang="sv-SE" sz="2400" dirty="0"/>
              <a:t>	</a:t>
            </a:r>
            <a:r>
              <a:rPr lang="en-GB" sz="2400" dirty="0"/>
              <a:t>1. by giving position of single element</a:t>
            </a:r>
          </a:p>
          <a:p>
            <a:r>
              <a:rPr lang="sv-SE" sz="2400" dirty="0"/>
              <a:t>          		</a:t>
            </a:r>
            <a:r>
              <a:rPr lang="sv-SE" sz="2400" dirty="0" err="1"/>
              <a:t>vec_slice</a:t>
            </a:r>
            <a:r>
              <a:rPr lang="sv-SE" sz="2400" dirty="0"/>
              <a:t> &lt;- c(1,2,3,4,5,6,7,8,9,10)</a:t>
            </a:r>
          </a:p>
          <a:p>
            <a:r>
              <a:rPr lang="sv-SE" sz="2400" dirty="0"/>
              <a:t>          		</a:t>
            </a:r>
            <a:r>
              <a:rPr lang="sv-SE" sz="2400" dirty="0" err="1"/>
              <a:t>vec_slice</a:t>
            </a:r>
            <a:r>
              <a:rPr lang="sv-SE" sz="2400" dirty="0"/>
              <a:t>[2]</a:t>
            </a:r>
          </a:p>
          <a:p>
            <a:endParaRPr lang="sv-SE" sz="2400" dirty="0"/>
          </a:p>
          <a:p>
            <a:r>
              <a:rPr lang="en-GB" sz="2400" dirty="0"/>
              <a:t>      	2. By giving range of elements</a:t>
            </a:r>
          </a:p>
          <a:p>
            <a:r>
              <a:rPr lang="sv-SE" sz="2400" dirty="0"/>
              <a:t>          		</a:t>
            </a:r>
            <a:r>
              <a:rPr lang="sv-SE" sz="2400" dirty="0" err="1"/>
              <a:t>vec_slice</a:t>
            </a:r>
            <a:r>
              <a:rPr lang="sv-SE" sz="2400" dirty="0"/>
              <a:t>[1:5]</a:t>
            </a:r>
          </a:p>
          <a:p>
            <a:endParaRPr lang="sv-SE" sz="2400" dirty="0"/>
          </a:p>
          <a:p>
            <a:r>
              <a:rPr lang="sv-SE" sz="2400" b="1" dirty="0"/>
              <a:t># D.  </a:t>
            </a:r>
            <a:r>
              <a:rPr lang="sv-SE" sz="2400" b="1" dirty="0" err="1"/>
              <a:t>Deletion</a:t>
            </a:r>
            <a:r>
              <a:rPr lang="sv-SE" sz="2400" b="1" dirty="0"/>
              <a:t> of </a:t>
            </a:r>
            <a:r>
              <a:rPr lang="sv-SE" sz="2400" b="1" dirty="0" err="1"/>
              <a:t>vector</a:t>
            </a:r>
            <a:endParaRPr lang="sv-SE" sz="2400" b="1" dirty="0"/>
          </a:p>
          <a:p>
            <a:r>
              <a:rPr lang="sv-SE" sz="2400" dirty="0"/>
              <a:t>	</a:t>
            </a:r>
            <a:r>
              <a:rPr lang="sv-SE" sz="2400" dirty="0" err="1"/>
              <a:t>rm</a:t>
            </a:r>
            <a:r>
              <a:rPr lang="sv-SE" sz="2400" dirty="0"/>
              <a:t>(</a:t>
            </a:r>
            <a:r>
              <a:rPr lang="sv-SE" sz="2400" dirty="0" err="1"/>
              <a:t>Vec_num</a:t>
            </a:r>
            <a:r>
              <a:rPr lang="sv-SE" sz="2400" dirty="0"/>
              <a:t>); </a:t>
            </a:r>
            <a:r>
              <a:rPr lang="sv-SE" sz="2400" dirty="0" err="1"/>
              <a:t>Vec_num</a:t>
            </a:r>
            <a:endParaRPr lang="sv-SE" sz="2400" dirty="0"/>
          </a:p>
          <a:p>
            <a:r>
              <a:rPr lang="sv-SE" sz="2400" dirty="0"/>
              <a:t>        	</a:t>
            </a:r>
            <a:r>
              <a:rPr lang="sv-SE" sz="2400" dirty="0" err="1"/>
              <a:t>rm</a:t>
            </a:r>
            <a:r>
              <a:rPr lang="sv-SE" sz="2400" dirty="0"/>
              <a:t> (</a:t>
            </a:r>
            <a:r>
              <a:rPr lang="sv-SE" sz="2400" dirty="0" err="1"/>
              <a:t>Vec_chr,Vec_logi</a:t>
            </a:r>
            <a:r>
              <a:rPr lang="sv-SE" sz="2400" dirty="0"/>
              <a:t>); </a:t>
            </a:r>
            <a:r>
              <a:rPr lang="sv-SE" sz="2400" dirty="0" err="1"/>
              <a:t>Vec_chr</a:t>
            </a:r>
            <a:r>
              <a:rPr lang="sv-SE" sz="2400" dirty="0"/>
              <a:t>; </a:t>
            </a:r>
            <a:r>
              <a:rPr lang="sv-SE" sz="2400" dirty="0" err="1"/>
              <a:t>Vec_logi</a:t>
            </a:r>
            <a:endParaRPr lang="sv-S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sv-SE" sz="2400" dirty="0"/>
              <a:t>        </a:t>
            </a:r>
          </a:p>
          <a:p>
            <a:r>
              <a:rPr lang="sv-SE" sz="2400" dirty="0"/>
              <a:t>     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24177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4906" y="297038"/>
            <a:ext cx="1153505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# E. Vector manipulation (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Arithematic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and Logical operations)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Two vectors of same length can be added, subtracted, multiplied or divided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Operation perform element to elements of vectors 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#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Arithematic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operations				#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Logical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operations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	# + 	: Addition				</a:t>
            </a:r>
            <a:r>
              <a:rPr lang="en-GB" dirty="0"/>
              <a:t># &lt; :less than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	# - 	: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Subtraction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GB" dirty="0"/>
              <a:t># &lt;= :less than or equal to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	# * 	: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Multiplication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r>
              <a:rPr lang="en-GB" dirty="0"/>
              <a:t># &gt; :greater than</a:t>
            </a:r>
          </a:p>
          <a:p>
            <a:r>
              <a:rPr lang="en-GB" dirty="0"/>
              <a:t>	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# / 	: Division				</a:t>
            </a:r>
            <a:r>
              <a:rPr lang="en-GB" dirty="0"/>
              <a:t># &gt;= :greater than or equal to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	# ^ or **  :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Exponentiation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				</a:t>
            </a:r>
            <a:r>
              <a:rPr lang="en-GB" dirty="0"/>
              <a:t># == :exactly equal to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	# %% 	: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Modulus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Remainder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from division)	# </a:t>
            </a:r>
            <a:r>
              <a:rPr lang="en-GB" dirty="0"/>
              <a:t>x OR y</a:t>
            </a:r>
          </a:p>
          <a:p>
            <a:r>
              <a:rPr lang="en-GB" dirty="0"/>
              <a:t>							# x AND y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x&lt;-c(1,3,5,7,9);x			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y&lt;-c(2,4,6,8,10);y   					</a:t>
            </a:r>
            <a:r>
              <a:rPr lang="sv-SE" dirty="0" err="1"/>
              <a:t>vec_logi</a:t>
            </a:r>
            <a:r>
              <a:rPr lang="sv-SE" dirty="0"/>
              <a:t> &lt;- c(1:10)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x+y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; 						</a:t>
            </a:r>
            <a:r>
              <a:rPr lang="sv-SE" dirty="0" err="1"/>
              <a:t>vec_logi</a:t>
            </a:r>
            <a:r>
              <a:rPr lang="sv-SE" dirty="0"/>
              <a:t> &gt;5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x-y; 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x*y; 					</a:t>
            </a:r>
            <a:r>
              <a:rPr lang="sv-SE" dirty="0"/>
              <a:t>#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multiple</a:t>
            </a:r>
            <a:r>
              <a:rPr lang="sv-SE" dirty="0"/>
              <a:t> </a:t>
            </a:r>
            <a:r>
              <a:rPr lang="sv-SE" dirty="0" err="1"/>
              <a:t>condition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y/x; 						# </a:t>
            </a:r>
            <a:r>
              <a:rPr lang="sv-SE" dirty="0" err="1"/>
              <a:t>vec_logi</a:t>
            </a:r>
            <a:r>
              <a:rPr lang="sv-SE" dirty="0"/>
              <a:t> &gt;5 &amp; </a:t>
            </a:r>
            <a:r>
              <a:rPr lang="sv-SE" dirty="0" err="1"/>
              <a:t>vec_logi</a:t>
            </a:r>
            <a:r>
              <a:rPr lang="sv-SE" dirty="0"/>
              <a:t> &lt; 8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y%%x						</a:t>
            </a:r>
            <a:r>
              <a:rPr lang="en-GB" dirty="0"/>
              <a:t># Logical statements wrapped inside the []. 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x^2 ; 						</a:t>
            </a:r>
            <a:r>
              <a:rPr lang="sv-SE" dirty="0"/>
              <a:t># </a:t>
            </a:r>
            <a:r>
              <a:rPr lang="sv-SE" dirty="0" err="1"/>
              <a:t>variable_name</a:t>
            </a:r>
            <a:r>
              <a:rPr lang="sv-SE" dirty="0"/>
              <a:t>[(</a:t>
            </a:r>
            <a:r>
              <a:rPr lang="sv-SE" dirty="0" err="1"/>
              <a:t>conditional_statement</a:t>
            </a:r>
            <a:r>
              <a:rPr lang="sv-SE" dirty="0"/>
              <a:t>).....]</a:t>
            </a:r>
            <a:endParaRPr lang="sv-S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sv-SE" dirty="0" err="1">
                <a:latin typeface="Arial" panose="020B0604020202020204" pitchFamily="34" charset="0"/>
                <a:cs typeface="Arial" panose="020B0604020202020204" pitchFamily="34" charset="0"/>
              </a:rPr>
              <a:t>x^y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;								</a:t>
            </a:r>
            <a:r>
              <a:rPr lang="sv-SE" dirty="0" err="1"/>
              <a:t>vec_logi</a:t>
            </a:r>
            <a:r>
              <a:rPr lang="sv-SE" dirty="0"/>
              <a:t>[</a:t>
            </a:r>
            <a:r>
              <a:rPr lang="sv-SE" dirty="0" err="1"/>
              <a:t>vec_logi</a:t>
            </a:r>
            <a:r>
              <a:rPr lang="sv-SE" dirty="0"/>
              <a:t>&gt;5]</a:t>
            </a:r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r>
              <a:rPr lang="sv-SE" dirty="0">
                <a:latin typeface="Arial" panose="020B0604020202020204" pitchFamily="34" charset="0"/>
                <a:cs typeface="Arial" panose="020B0604020202020204" pitchFamily="34" charset="0"/>
              </a:rPr>
              <a:t>								</a:t>
            </a:r>
            <a:r>
              <a:rPr lang="sv-SE" dirty="0" err="1"/>
              <a:t>vec_logi</a:t>
            </a:r>
            <a:r>
              <a:rPr lang="sv-SE" dirty="0"/>
              <a:t>[</a:t>
            </a:r>
            <a:r>
              <a:rPr lang="sv-SE" dirty="0" err="1"/>
              <a:t>vec_logi</a:t>
            </a:r>
            <a:r>
              <a:rPr lang="sv-SE" dirty="0"/>
              <a:t> &gt;5 &amp; </a:t>
            </a:r>
            <a:r>
              <a:rPr lang="sv-SE" dirty="0" err="1"/>
              <a:t>vec_logi</a:t>
            </a:r>
            <a:r>
              <a:rPr lang="sv-SE" dirty="0"/>
              <a:t> &lt; 8]</a:t>
            </a:r>
          </a:p>
          <a:p>
            <a:r>
              <a:rPr lang="sv-SE" dirty="0"/>
              <a:t>								</a:t>
            </a:r>
            <a:r>
              <a:rPr lang="sv-SE" dirty="0" err="1"/>
              <a:t>vec_logi</a:t>
            </a:r>
            <a:r>
              <a:rPr lang="sv-SE" dirty="0"/>
              <a:t>[(</a:t>
            </a:r>
            <a:r>
              <a:rPr lang="sv-SE" dirty="0" err="1"/>
              <a:t>vec_logi</a:t>
            </a:r>
            <a:r>
              <a:rPr lang="sv-SE" dirty="0"/>
              <a:t>&gt;5) &amp; (</a:t>
            </a:r>
            <a:r>
              <a:rPr lang="sv-SE" dirty="0" err="1"/>
              <a:t>vec_logi</a:t>
            </a:r>
            <a:r>
              <a:rPr lang="sv-SE" dirty="0"/>
              <a:t>&lt;7)]</a:t>
            </a:r>
          </a:p>
        </p:txBody>
      </p:sp>
    </p:spTree>
    <p:extLst>
      <p:ext uri="{BB962C8B-B14F-4D97-AF65-F5344CB8AC3E}">
        <p14:creationId xmlns:p14="http://schemas.microsoft.com/office/powerpoint/2010/main" val="1154867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|0.8|1|0.9|0.9|0.9|0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3269</Words>
  <Application>Microsoft Office PowerPoint</Application>
  <PresentationFormat>Widescreen</PresentationFormat>
  <Paragraphs>421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Black</vt:lpstr>
      <vt:lpstr>Book Antiqua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 to R</vt:lpstr>
      <vt:lpstr>R Popularity Index and Growth</vt:lpstr>
      <vt:lpstr>PowerPoint Presentation</vt:lpstr>
      <vt:lpstr>Why R for Biologist?</vt:lpstr>
      <vt:lpstr>How to work on R Interfaces</vt:lpstr>
      <vt:lpstr>How can you work with R</vt:lpstr>
      <vt:lpstr>PowerPoint Presentation</vt:lpstr>
      <vt:lpstr>PowerPoint Presentation</vt:lpstr>
      <vt:lpstr>1. General R functions to know</vt:lpstr>
      <vt:lpstr>RStudio: Installation and Working</vt:lpstr>
      <vt:lpstr>PowerPoint Presentation</vt:lpstr>
      <vt:lpstr>Useful Short-cuts for R-Studio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Kumar Kushwaha</dc:creator>
  <cp:lastModifiedBy>sandeep Kushwaha</cp:lastModifiedBy>
  <cp:revision>125</cp:revision>
  <dcterms:created xsi:type="dcterms:W3CDTF">2022-03-14T06:36:46Z</dcterms:created>
  <dcterms:modified xsi:type="dcterms:W3CDTF">2026-09-24T09:04:53Z</dcterms:modified>
</cp:coreProperties>
</file>